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cbea9a57524276" /><Relationship Type="http://schemas.openxmlformats.org/officeDocument/2006/relationships/extended-properties" Target="/docProps/app.xml" Id="R647250f2f3e54a22" /><Relationship Type="http://schemas.openxmlformats.org/officeDocument/2006/relationships/officeDocument" Target="/ppt/presentation.xml" Id="R0119852785944c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93ddf4d53e419b"/>
  </p:sldMasterIdLst>
  <p:notesMasterIdLst>
    <p:notesMasterId xmlns:r="http://schemas.openxmlformats.org/officeDocument/2006/relationships" r:id="R4f0b2315a8f140ea"/>
  </p:notesMasterIdLst>
  <p:sldIdLst>
    <p:sldId xmlns:r="http://schemas.openxmlformats.org/officeDocument/2006/relationships" id="256" r:id="R79db0f2ddb854b5b"/>
    <p:sldId xmlns:r="http://schemas.openxmlformats.org/officeDocument/2006/relationships" id="257" r:id="Rc8164102fbfd4bd2"/>
    <p:sldId xmlns:r="http://schemas.openxmlformats.org/officeDocument/2006/relationships" id="258" r:id="R7259f6a202df4328"/>
    <p:sldId xmlns:r="http://schemas.openxmlformats.org/officeDocument/2006/relationships" id="259" r:id="Reb289eac3ec540ee"/>
    <p:sldId xmlns:r="http://schemas.openxmlformats.org/officeDocument/2006/relationships" id="260" r:id="Rfbf029bd229b4673"/>
    <p:sldId xmlns:r="http://schemas.openxmlformats.org/officeDocument/2006/relationships" id="261" r:id="Rfc6e543f31b94adb"/>
    <p:sldId xmlns:r="http://schemas.openxmlformats.org/officeDocument/2006/relationships" id="262" r:id="Rd4a6d2112e264080"/>
    <p:sldId xmlns:r="http://schemas.openxmlformats.org/officeDocument/2006/relationships" id="263" r:id="R869590b309204bc9"/>
    <p:sldId xmlns:r="http://schemas.openxmlformats.org/officeDocument/2006/relationships" id="264" r:id="R8d7a35d12ac94a9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3defbb79254457" /><Relationship Type="http://schemas.openxmlformats.org/officeDocument/2006/relationships/slideMaster" Target="/ppt/slideMasters/slideMaster1.xml" Id="R6b93ddf4d53e419b" /><Relationship Type="http://schemas.openxmlformats.org/officeDocument/2006/relationships/notesMaster" Target="/ppt/notesMasters/notesMaster1.xml" Id="R4f0b2315a8f140ea" /><Relationship Type="http://schemas.openxmlformats.org/officeDocument/2006/relationships/presProps" Target="/ppt/presProps.xml" Id="R670daec881ce43a8" /><Relationship Type="http://schemas.openxmlformats.org/officeDocument/2006/relationships/tableStyles" Target="/ppt/tableStyles.xml" Id="R28389dd30ed44035" /><Relationship Type="http://schemas.openxmlformats.org/officeDocument/2006/relationships/slide" Target="/ppt/slides/slide1.xml" Id="R79db0f2ddb854b5b" /><Relationship Type="http://schemas.openxmlformats.org/officeDocument/2006/relationships/slide" Target="/ppt/slides/slide2.xml" Id="Rc8164102fbfd4bd2" /><Relationship Type="http://schemas.openxmlformats.org/officeDocument/2006/relationships/slide" Target="/ppt/slides/slide3.xml" Id="R7259f6a202df4328" /><Relationship Type="http://schemas.openxmlformats.org/officeDocument/2006/relationships/slide" Target="/ppt/slides/slide4.xml" Id="Reb289eac3ec540ee" /><Relationship Type="http://schemas.openxmlformats.org/officeDocument/2006/relationships/slide" Target="/ppt/slides/slide5.xml" Id="Rfbf029bd229b4673" /><Relationship Type="http://schemas.openxmlformats.org/officeDocument/2006/relationships/slide" Target="/ppt/slides/slide6.xml" Id="Rfc6e543f31b94adb" /><Relationship Type="http://schemas.openxmlformats.org/officeDocument/2006/relationships/slide" Target="/ppt/slides/slide7.xml" Id="Rd4a6d2112e264080" /><Relationship Type="http://schemas.openxmlformats.org/officeDocument/2006/relationships/slide" Target="/ppt/slides/slide8.xml" Id="R869590b309204bc9" /><Relationship Type="http://schemas.openxmlformats.org/officeDocument/2006/relationships/slide" Target="/ppt/slides/slide9.xml" Id="R8d7a35d12ac94a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ea4d83fda245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b1949fb50b48a6" /><Relationship Type="http://schemas.openxmlformats.org/officeDocument/2006/relationships/notesMaster" Target="/ppt/notesMasters/notesMaster1.xml" Id="Rcbe7328f445d45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90d8822d434d1e" /><Relationship Type="http://schemas.openxmlformats.org/officeDocument/2006/relationships/notesMaster" Target="/ppt/notesMasters/notesMaster1.xml" Id="R66e439fd954e4c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dedbf8b86441d8" /><Relationship Type="http://schemas.openxmlformats.org/officeDocument/2006/relationships/notesMaster" Target="/ppt/notesMasters/notesMaster1.xml" Id="R9fea592a609d40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f205d1a0e143aa" /><Relationship Type="http://schemas.openxmlformats.org/officeDocument/2006/relationships/notesMaster" Target="/ppt/notesMasters/notesMaster1.xml" Id="Ra4d6cfbe66e148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7c4711716941bf" /><Relationship Type="http://schemas.openxmlformats.org/officeDocument/2006/relationships/notesMaster" Target="/ppt/notesMasters/notesMaster1.xml" Id="R5694882a55e944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5d1435f4554f44" /><Relationship Type="http://schemas.openxmlformats.org/officeDocument/2006/relationships/notesMaster" Target="/ppt/notesMasters/notesMaster1.xml" Id="R109004b850ae4a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b5bd8b20444c73" /><Relationship Type="http://schemas.openxmlformats.org/officeDocument/2006/relationships/notesMaster" Target="/ppt/notesMasters/notesMaster1.xml" Id="R0a02803c66c74f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a5fe62da2a6447c" /><Relationship Type="http://schemas.openxmlformats.org/officeDocument/2006/relationships/notesMaster" Target="/ppt/notesMasters/notesMaster1.xml" Id="R8d907766654c49c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00ff3b847e249fc" /><Relationship Type="http://schemas.openxmlformats.org/officeDocument/2006/relationships/notesMaster" Target="/ppt/notesMasters/notesMaster1.xml" Id="R19653cc174a940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проекта: README.md, acceptance.txt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проекта: README.md, docs/01-developer-1.md, docs/02-developer-2.md, история Git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проекта: scripts/20-layout.sh, access-matrix.md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проекта: scripts/10-accounts.sh, scripts/30-access.sh, scripts/40-sudoers.sh, access-matrix.md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проекта: runbook.md, docs/02-developer-2.md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проекта: screenshots/01-start-failure.png, scripts/50-service.sh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проекта: scripts/40-sudoers.sh, runbook.md; снимок ошибки provision.sh из переписки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проекта: README.md, provision.sh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проекта: acceptance.txt, screenshots/02-acceptance.png,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fb18cbcd5d418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58cf7c649f492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c4c232521c4e9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92b0fcfe2340d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fe556a43db4e2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88cd36ef4a43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72915B-ACEF-4FC2-A551-BF9A90E309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2916D7C-55DA-4911-8FD0-A414DB197C8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6EC1626-5941-43E5-B18B-28F53EB952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FA7F2E-2C6E-4187-BBED-F157875803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F8A7C0B-899C-436C-AC55-D64B589146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8007E66-546A-40D3-A868-82E5774D3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73FB202-D470-4477-BF8F-7AF54DDFC5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D203A0F-69A4-4E61-98EA-76A9D8F6DB3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B1668C6-B71E-473D-A0D5-152D0C2566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572FC02-21D5-4DCB-848C-0AA71E3B08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781747cd914d6f" /><Relationship Type="http://schemas.openxmlformats.org/officeDocument/2006/relationships/slideLayout" Target="/ppt/slideLayouts/slideLayout1.xml" Id="Rf6abafdb1d774b43" /><Relationship Type="http://schemas.openxmlformats.org/officeDocument/2006/relationships/slideLayout" Target="/ppt/slideLayouts/slideLayout2.xml" Id="R64afb40e0c2c4c2d" /><Relationship Type="http://schemas.openxmlformats.org/officeDocument/2006/relationships/slideLayout" Target="/ppt/slideLayouts/slideLayout3.xml" Id="R29bebe23800f4042" /><Relationship Type="http://schemas.openxmlformats.org/officeDocument/2006/relationships/slideLayout" Target="/ppt/slideLayouts/slideLayout4.xml" Id="R24dacc749f104300" /><Relationship Type="http://schemas.openxmlformats.org/officeDocument/2006/relationships/slideLayout" Target="/ppt/slideLayouts/slideLayout5.xml" Id="R39ebaf8b06454b44" /><Relationship Type="http://schemas.openxmlformats.org/officeDocument/2006/relationships/slideLayout" Target="/ppt/slideLayouts/slideLayout6.xml" Id="R428e3471703742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abafdb1d774b43"/>
    <p:sldLayoutId xmlns:r="http://schemas.openxmlformats.org/officeDocument/2006/relationships" id="2147483650" r:id="R64afb40e0c2c4c2d"/>
    <p:sldLayoutId xmlns:r="http://schemas.openxmlformats.org/officeDocument/2006/relationships" id="2147483651" r:id="R29bebe23800f4042"/>
    <p:sldLayoutId xmlns:r="http://schemas.openxmlformats.org/officeDocument/2006/relationships" id="2147483652" r:id="R24dacc749f104300"/>
    <p:sldLayoutId xmlns:r="http://schemas.openxmlformats.org/officeDocument/2006/relationships" id="2147483653" r:id="R39ebaf8b06454b44"/>
    <p:sldLayoutId xmlns:r="http://schemas.openxmlformats.org/officeDocument/2006/relationships" id="2147483654" r:id="R428e3471703742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bcd15ead044ead" /><Relationship Type="http://schemas.openxmlformats.org/officeDocument/2006/relationships/notesSlide" Target="/ppt/notesSlides/notesSlide1.xml" Id="R135e404daab146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993a68de174692" /><Relationship Type="http://schemas.openxmlformats.org/officeDocument/2006/relationships/notesSlide" Target="/ppt/notesSlides/notesSlide2.xml" Id="R57ea9ed4306a4e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a60403bc504381" /><Relationship Type="http://schemas.openxmlformats.org/officeDocument/2006/relationships/notesSlide" Target="/ppt/notesSlides/notesSlide3.xml" Id="R1eebe261aaf542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da55f773484193" /><Relationship Type="http://schemas.openxmlformats.org/officeDocument/2006/relationships/notesSlide" Target="/ppt/notesSlides/notesSlide4.xml" Id="R71f4bde2abed43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b4802b3ec7453f" /><Relationship Type="http://schemas.openxmlformats.org/officeDocument/2006/relationships/notesSlide" Target="/ppt/notesSlides/notesSlide5.xml" Id="R9329776164564f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f9de5e64ce4520" /><Relationship Type="http://schemas.openxmlformats.org/officeDocument/2006/relationships/image" Target="/ppt/media/image.jpeg" Id="R7a6bacaa8fb042a3" /><Relationship Type="http://schemas.openxmlformats.org/officeDocument/2006/relationships/notesSlide" Target="/ppt/notesSlides/notesSlide6.xml" Id="R95fc01713b7343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7594009a2b4406" /><Relationship Type="http://schemas.openxmlformats.org/officeDocument/2006/relationships/notesSlide" Target="/ppt/notesSlides/notesSlide7.xml" Id="Ra8dca9a277a44cb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44b21d3d724854" /><Relationship Type="http://schemas.openxmlformats.org/officeDocument/2006/relationships/notesSlide" Target="/ppt/notesSlides/notesSlide8.xml" Id="Rfcc231d8a7ba4e2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291bf19e0b4ffd" /><Relationship Type="http://schemas.openxmlformats.org/officeDocument/2006/relationships/image" Target="/ppt/media/image.png" Id="R8820f8d768af4f48" /><Relationship Type="http://schemas.openxmlformats.org/officeDocument/2006/relationships/notesSlide" Target="/ppt/notesSlides/notesSlide9.xml" Id="R8f56ab8b5f454b9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34E126-313C-4BF4-9E06-F47A056F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defPPr>
            <a:lvl1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1pPr>
            <a:lvl2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2pPr>
            <a:lvl3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3pPr>
            <a:lvl4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4pPr>
            <a:lvl5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5pPr>
            <a:lvl6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6pPr>
            <a:lvl7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7pPr>
            <a:lvl8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8pPr>
            <a:lvl9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rPr>
              <a:t>Helpdesk 2.4.1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6EA7AE-DCDF-481C-8651-0A550F03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defPPr>
            <a:lvl1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1pPr>
            <a:lvl2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2pPr>
            <a:lvl3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3pPr>
            <a:lvl4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4pPr>
            <a:lvl5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5pPr>
            <a:lvl6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6pPr>
            <a:lvl7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7pPr>
            <a:lvl8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8pPr>
            <a:lvl9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2C8C72-7DF0-4D36-93E3-62A1EFF8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9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defPPr>
            <a:lvl1pPr>
              <a:defRPr sz="39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1pPr>
            <a:lvl2pPr>
              <a:defRPr sz="39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2pPr>
            <a:lvl3pPr>
              <a:defRPr sz="39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3pPr>
            <a:lvl4pPr>
              <a:defRPr sz="39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4pPr>
            <a:lvl5pPr>
              <a:defRPr sz="39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5pPr>
            <a:lvl6pPr>
              <a:defRPr sz="39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6pPr>
            <a:lvl7pPr>
              <a:defRPr sz="39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7pPr>
            <a:lvl8pPr>
              <a:defRPr sz="39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8pPr>
            <a:lvl9pPr>
              <a:defRPr sz="39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39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rPr>
              <a:t>Ввод сервиса в эксплуатацию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A9C959-D449-4349-8D78-A1272E1D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24175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defPPr>
            <a:lvl1pPr>
              <a:defRPr sz="22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1pPr>
            <a:lvl2pPr>
              <a:defRPr sz="22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2pPr>
            <a:lvl3pPr>
              <a:defRPr sz="22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3pPr>
            <a:lvl4pPr>
              <a:defRPr sz="22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4pPr>
            <a:lvl5pPr>
              <a:defRPr sz="22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5pPr>
            <a:lvl6pPr>
              <a:defRPr sz="22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6pPr>
            <a:lvl7pPr>
              <a:defRPr sz="22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7pPr>
            <a:lvl8pPr>
              <a:defRPr sz="22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8pPr>
            <a:lvl9pPr>
              <a:defRPr sz="22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2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rPr>
              <a:t>Учётные записи, права доступа и повторяемая установка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D948B5-EE45-4328-98E2-2C73CD66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defPPr>
            <a:lvl1pPr>
              <a:defRPr sz="2025" b="0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1pPr>
            <a:lvl2pPr>
              <a:defRPr sz="2025" b="0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2pPr>
            <a:lvl3pPr>
              <a:defRPr sz="2025" b="0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3pPr>
            <a:lvl4pPr>
              <a:defRPr sz="2025" b="0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4pPr>
            <a:lvl5pPr>
              <a:defRPr sz="2025" b="0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5pPr>
            <a:lvl6pPr>
              <a:defRPr sz="2025" b="0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6pPr>
            <a:lvl7pPr>
              <a:defRPr sz="2025" b="0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7pPr>
            <a:lvl8pPr>
              <a:defRPr sz="2025" b="0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8pPr>
            <a:lvl9pPr>
              <a:defRPr sz="2025" b="0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025" b="0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rPr>
              <a:t>dxlol / @DXlol112</a:t>
            </a:r>
          </a:p>
          <a:p xmlns:a="http://schemas.openxmlformats.org/drawingml/2006/main">
            <a:pPr>
              <a:defRPr sz="2025" b="0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025" b="0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rPr>
              <a:t>glebkuznecov / @glebkuznecov</a:t>
            </a:r>
          </a:p>
        </p:txBody>
      </p:sp>
    </p:spTree>
    <p:extLst>
      <p:ext uri="{BB962C8B-B14F-4D97-AF65-F5344CB8AC3E}">
        <p14:creationId xmlns:p14="http://schemas.microsoft.com/office/powerpoint/2010/main" val="5107753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6F89C9-303E-442E-9F8D-FECDA194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defPPr>
            <a:lvl1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1pPr>
            <a:lvl2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2pPr>
            <a:lvl3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3pPr>
            <a:lvl4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4pPr>
            <a:lvl5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5pPr>
            <a:lvl6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6pPr>
            <a:lvl7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7pPr>
            <a:lvl8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8pPr>
            <a:lvl9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rPr>
              <a:t>Работа вдвоём через 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C64F86-C712-48A9-B682-00881C74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defPPr>
            <a:lvl1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1pPr>
            <a:lvl2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2pPr>
            <a:lvl3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3pPr>
            <a:lvl4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4pPr>
            <a:lvl5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5pPr>
            <a:lvl6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6pPr>
            <a:lvl7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7pPr>
            <a:lvl8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8pPr>
            <a:lvl9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94BCDA-E191-49B7-8E1C-B7B322C3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defPPr>
            <a:lvl1pPr>
              <a:defRPr sz="2700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1pPr>
            <a:lvl2pPr>
              <a:defRPr sz="2700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2pPr>
            <a:lvl3pPr>
              <a:defRPr sz="2700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3pPr>
            <a:lvl4pPr>
              <a:defRPr sz="2700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4pPr>
            <a:lvl5pPr>
              <a:defRPr sz="2700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5pPr>
            <a:lvl6pPr>
              <a:defRPr sz="2700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6pPr>
            <a:lvl7pPr>
              <a:defRPr sz="2700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7pPr>
            <a:lvl8pPr>
              <a:defRPr sz="2700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8pPr>
            <a:lvl9pPr>
              <a:defRPr sz="2700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700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rPr>
              <a:t>part-1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6B3CCC-BA91-4A55-BC3F-E8940337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28875"/>
            <a:ext cx="4905375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defPPr>
            <a:lvl1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1pPr>
            <a:lvl2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2pPr>
            <a:lvl3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3pPr>
            <a:lvl4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4pPr>
            <a:lvl5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5pPr>
            <a:lvl6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6pPr>
            <a:lvl7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7pPr>
            <a:lvl8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8pPr>
            <a:lvl9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rPr>
              <a:t>dxlol</a:t>
            </a:r>
          </a:p>
          <a:p xmlns:a="http://schemas.openxmlformats.org/drawingml/2006/main">
            <a: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rPr>
              <a:t>Пользователи и группы</a:t>
            </a:r>
          </a:p>
          <a:p xmlns:a="http://schemas.openxmlformats.org/drawingml/2006/main">
            <a: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rPr>
              <a:t>Правило sudo</a:t>
            </a:r>
          </a:p>
          <a:p xmlns:a="http://schemas.openxmlformats.org/drawingml/2006/main">
            <a: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rPr>
              <a:t>provision.sh и общий отчёт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EE25A3-3CE7-4540-87A8-CD39B575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7526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defPPr>
            <a:lvl1pPr>
              <a:defRPr sz="2700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1pPr>
            <a:lvl2pPr>
              <a:defRPr sz="2700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2pPr>
            <a:lvl3pPr>
              <a:defRPr sz="2700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3pPr>
            <a:lvl4pPr>
              <a:defRPr sz="2700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4pPr>
            <a:lvl5pPr>
              <a:defRPr sz="2700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5pPr>
            <a:lvl6pPr>
              <a:defRPr sz="2700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6pPr>
            <a:lvl7pPr>
              <a:defRPr sz="2700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7pPr>
            <a:lvl8pPr>
              <a:defRPr sz="2700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8pPr>
            <a:lvl9pPr>
              <a:defRPr sz="2700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700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rPr>
              <a:t>part-2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2E3247-068C-4C00-BBED-1405A532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28875"/>
            <a:ext cx="4905375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defPPr>
            <a:lvl1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1pPr>
            <a:lvl2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2pPr>
            <a:lvl3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3pPr>
            <a:lvl4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4pPr>
            <a:lvl5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5pPr>
            <a:lvl6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6pPr>
            <a:lvl7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7pPr>
            <a:lvl8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8pPr>
            <a:lvl9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rPr>
              <a:t>glebkuznecov</a:t>
            </a:r>
          </a:p>
          <a:p xmlns:a="http://schemas.openxmlformats.org/drawingml/2006/main">
            <a: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rPr>
              <a:t>Размещение файлов</a:t>
            </a:r>
          </a:p>
          <a:p xmlns:a="http://schemas.openxmlformats.org/drawingml/2006/main">
            <a: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rPr>
              <a:t>Права и ACL</a:t>
            </a:r>
          </a:p>
          <a:p xmlns:a="http://schemas.openxmlformats.org/drawingml/2006/main">
            <a: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rPr>
              <a:t>Запуск и проверка службы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F8189D-FCF7-4D98-9F6D-3B011B45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defPPr>
            <a:lvl1pPr>
              <a:defRPr sz="210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1pPr>
            <a:lvl2pPr>
              <a:defRPr sz="210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2pPr>
            <a:lvl3pPr>
              <a:defRPr sz="210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3pPr>
            <a:lvl4pPr>
              <a:defRPr sz="210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4pPr>
            <a:lvl5pPr>
              <a:defRPr sz="210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5pPr>
            <a:lvl6pPr>
              <a:defRPr sz="210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6pPr>
            <a:lvl7pPr>
              <a:defRPr sz="210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7pPr>
            <a:lvl8pPr>
              <a:defRPr sz="210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8pPr>
            <a:lvl9pPr>
              <a:defRPr sz="210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10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rPr>
              <a:t>Отдельные ветки, проверка общей сборки и Pull Request в main</a:t>
            </a:r>
          </a:p>
        </p:txBody>
      </p:sp>
    </p:spTree>
    <p:extLst>
      <p:ext uri="{BB962C8B-B14F-4D97-AF65-F5344CB8AC3E}">
        <p14:creationId xmlns:p14="http://schemas.microsoft.com/office/powerpoint/2010/main" val="9371773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EFF68A-C080-4570-B977-77D18A26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defPPr>
            <a:lvl1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1pPr>
            <a:lvl2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2pPr>
            <a:lvl3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3pPr>
            <a:lvl4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4pPr>
            <a:lvl5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5pPr>
            <a:lvl6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6pPr>
            <a:lvl7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7pPr>
            <a:lvl8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8pPr>
            <a:lvl9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rPr>
              <a:t>Размещение файлов по FHS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D607CE-AD7A-4152-BE25-322F4700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defPPr>
            <a:lvl1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1pPr>
            <a:lvl2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2pPr>
            <a:lvl3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3pPr>
            <a:lvl4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4pPr>
            <a:lvl5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5pPr>
            <a:lvl6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6pPr>
            <a:lvl7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7pPr>
            <a:lvl8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8pPr>
            <a:lvl9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rPr>
              <a:t>03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4BCEEA-2665-41A0-BEF2-4F2CBAC1EFE8}"/>
              </a:ext>
            </a:extLst>
          </p:cNvPr>
          <p:cNvGraphicFramePr/>
          <p:nvPr/>
        </p:nvGraphicFramePr>
        <p:xfrm>
          <a:off xmlns:a="http://schemas.openxmlformats.org/drawingml/2006/main" x="647700" y="1666875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81500"/>
                <a:gridCol w="6438900"/>
              </a:tblGrid>
              <a:tr h="571500">
                <a:tc>
                  <a:txBody>
                    <a:bodyPr lIns="114300" tIns="114300" rIns="114300" bIns="114300"/>
                    <a:lstStyle/>
                    <a:p>
                      <a:r>
                        <a:rPr sz="2025" b="1">
                          <a:solidFill>
                            <a:srgbClr val="5FE0BD"/>
                          </a:solidFill>
                          <a:latin typeface="Noto Sans Display"/>
                          <a:ea typeface="Noto Sans Display"/>
                          <a:cs typeface="Noto Sans Display"/>
                        </a:rPr>
                        <a:t>Что храним</a:t>
                      </a:r>
                    </a:p>
                  </a:txBody>
                  <a:tcPr marL="91440" marR="91440" marT="45720" marB="45720">
                    <a:solidFill>
                      <a:srgbClr val="20364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1">
                          <a:solidFill>
                            <a:srgbClr val="5FE0BD"/>
                          </a:solidFill>
                          <a:latin typeface="Noto Sans Display"/>
                          <a:ea typeface="Noto Sans Display"/>
                          <a:cs typeface="Noto Sans Display"/>
                        </a:rPr>
                        <a:t>Каталог</a:t>
                      </a:r>
                    </a:p>
                  </a:txBody>
                  <a:tcPr marL="91440" marR="91440" marT="45720" marB="45720">
                    <a:solidFill>
                      <a:srgbClr val="20364B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7"/>
                          </a:solidFill>
                          <a:latin typeface="Noto Sans Display"/>
                          <a:ea typeface="Noto Sans Display"/>
                          <a:cs typeface="Noto Sans Display"/>
                        </a:rPr>
                        <a:t>Программы</a:t>
                      </a:r>
                    </a:p>
                  </a:txBody>
                  <a:tcPr marL="91440" marR="91440" marT="45720" marB="45720">
                    <a:solidFill>
                      <a:srgbClr val="101C2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7"/>
                          </a:solidFill>
                          <a:latin typeface="Noto Sans Display"/>
                          <a:ea typeface="Noto Sans Display"/>
                          <a:cs typeface="Noto Sans Display"/>
                        </a:rPr>
                        <a:t>/usr/local/bin</a:t>
                      </a:r>
                    </a:p>
                  </a:txBody>
                  <a:tcPr marL="91440" marR="91440" marT="45720" marB="45720">
                    <a:solidFill>
                      <a:srgbClr val="101C2B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7"/>
                          </a:solidFill>
                          <a:latin typeface="Noto Sans Display"/>
                          <a:ea typeface="Noto Sans Display"/>
                          <a:cs typeface="Noto Sans Display"/>
                        </a:rPr>
                        <a:t>Настройки и секреты</a:t>
                      </a:r>
                    </a:p>
                  </a:txBody>
                  <a:tcPr marL="91440" marR="91440" marT="45720" marB="45720">
                    <a:solidFill>
                      <a:srgbClr val="101C2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7"/>
                          </a:solidFill>
                          <a:latin typeface="Noto Sans Display"/>
                          <a:ea typeface="Noto Sans Display"/>
                          <a:cs typeface="Noto Sans Display"/>
                        </a:rPr>
                        <a:t>/etc/helpdesk</a:t>
                      </a:r>
                    </a:p>
                  </a:txBody>
                  <a:tcPr marL="91440" marR="91440" marT="45720" marB="45720">
                    <a:solidFill>
                      <a:srgbClr val="101C2B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7"/>
                          </a:solidFill>
                          <a:latin typeface="Noto Sans Display"/>
                          <a:ea typeface="Noto Sans Display"/>
                          <a:cs typeface="Noto Sans Display"/>
                        </a:rPr>
                        <a:t>База заявок</a:t>
                      </a:r>
                    </a:p>
                  </a:txBody>
                  <a:tcPr marL="91440" marR="91440" marT="45720" marB="45720">
                    <a:solidFill>
                      <a:srgbClr val="101C2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7"/>
                          </a:solidFill>
                          <a:latin typeface="Noto Sans Display"/>
                          <a:ea typeface="Noto Sans Display"/>
                          <a:cs typeface="Noto Sans Display"/>
                        </a:rPr>
                        <a:t>/var/lib/helpdesk</a:t>
                      </a:r>
                    </a:p>
                  </a:txBody>
                  <a:tcPr marL="91440" marR="91440" marT="45720" marB="45720">
                    <a:solidFill>
                      <a:srgbClr val="101C2B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7"/>
                          </a:solidFill>
                          <a:latin typeface="Noto Sans Display"/>
                          <a:ea typeface="Noto Sans Display"/>
                          <a:cs typeface="Noto Sans Display"/>
                        </a:rPr>
                        <a:t>Веб-интерфейс</a:t>
                      </a:r>
                    </a:p>
                  </a:txBody>
                  <a:tcPr marL="91440" marR="91440" marT="45720" marB="45720">
                    <a:solidFill>
                      <a:srgbClr val="101C2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7"/>
                          </a:solidFill>
                          <a:latin typeface="Noto Sans Display"/>
                          <a:ea typeface="Noto Sans Display"/>
                          <a:cs typeface="Noto Sans Display"/>
                        </a:rPr>
                        <a:t>/srv/helpdesk/static</a:t>
                      </a:r>
                    </a:p>
                  </a:txBody>
                  <a:tcPr marL="91440" marR="91440" marT="45720" marB="45720">
                    <a:solidFill>
                      <a:srgbClr val="101C2B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7"/>
                          </a:solidFill>
                          <a:latin typeface="Noto Sans Display"/>
                          <a:ea typeface="Noto Sans Display"/>
                          <a:cs typeface="Noto Sans Display"/>
                        </a:rPr>
                        <a:t>Журналы</a:t>
                      </a:r>
                    </a:p>
                  </a:txBody>
                  <a:tcPr marL="91440" marR="91440" marT="45720" marB="45720">
                    <a:solidFill>
                      <a:srgbClr val="101C2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7"/>
                          </a:solidFill>
                          <a:latin typeface="Noto Sans Display"/>
                          <a:ea typeface="Noto Sans Display"/>
                          <a:cs typeface="Noto Sans Display"/>
                        </a:rPr>
                        <a:t>/var/log/helpdesk</a:t>
                      </a:r>
                    </a:p>
                  </a:txBody>
                  <a:tcPr marL="91440" marR="91440" marT="45720" marB="45720">
                    <a:solidFill>
                      <a:srgbClr val="101C2B"/>
                    </a:solidFill>
                  </a:tcPr>
                </a:tc>
              </a:tr>
              <a:tr h="571500"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7"/>
                          </a:solidFill>
                          <a:latin typeface="Noto Sans Display"/>
                          <a:ea typeface="Noto Sans Display"/>
                          <a:cs typeface="Noto Sans Display"/>
                        </a:rPr>
                        <a:t>PID службы</a:t>
                      </a:r>
                    </a:p>
                  </a:txBody>
                  <a:tcPr marL="91440" marR="91440" marT="45720" marB="45720">
                    <a:solidFill>
                      <a:srgbClr val="101C2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F2F5F7"/>
                          </a:solidFill>
                          <a:latin typeface="Noto Sans Display"/>
                          <a:ea typeface="Noto Sans Display"/>
                          <a:cs typeface="Noto Sans Display"/>
                        </a:rPr>
                        <a:t>/run/helpdesk</a:t>
                      </a:r>
                    </a:p>
                  </a:txBody>
                  <a:tcPr marL="91440" marR="91440" marT="45720" marB="45720">
                    <a:solidFill>
                      <a:srgbClr val="101C2B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192D00-BD3B-4C36-AAFA-32087359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578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defPPr>
            <a:lvl1pPr>
              <a:defRPr sz="1875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1pPr>
            <a:lvl2pPr>
              <a:defRPr sz="1875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2pPr>
            <a:lvl3pPr>
              <a:defRPr sz="1875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3pPr>
            <a:lvl4pPr>
              <a:defRPr sz="1875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4pPr>
            <a:lvl5pPr>
              <a:defRPr sz="1875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5pPr>
            <a:lvl6pPr>
              <a:defRPr sz="1875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6pPr>
            <a:lvl7pPr>
              <a:defRPr sz="1875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7pPr>
            <a:lvl8pPr>
              <a:defRPr sz="1875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8pPr>
            <a:lvl9pPr>
              <a:defRPr sz="1875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875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rPr>
              <a:t>Релиз из /tmp удаляем после успешной установки</a:t>
            </a:r>
          </a:p>
        </p:txBody>
      </p:sp>
    </p:spTree>
    <p:extLst>
      <p:ext uri="{BB962C8B-B14F-4D97-AF65-F5344CB8AC3E}">
        <p14:creationId xmlns:p14="http://schemas.microsoft.com/office/powerpoint/2010/main" val="3527755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E65E35-7024-41C2-992E-1D948C11B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defPPr>
            <a:lvl1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1pPr>
            <a:lvl2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2pPr>
            <a:lvl3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3pPr>
            <a:lvl4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4pPr>
            <a:lvl5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5pPr>
            <a:lvl6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6pPr>
            <a:lvl7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7pPr>
            <a:lvl8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8pPr>
            <a:lvl9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rPr>
              <a:t>Доступ по ролям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22302-2AF9-4DED-B85D-48468A31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defPPr>
            <a:lvl1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1pPr>
            <a:lvl2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2pPr>
            <a:lvl3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3pPr>
            <a:lvl4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4pPr>
            <a:lvl5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5pPr>
            <a:lvl6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6pPr>
            <a:lvl7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7pPr>
            <a:lvl8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8pPr>
            <a:lvl9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B78300-98FF-41DF-9640-3949B855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defPPr>
            <a:lvl1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1pPr>
            <a:lvl2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2pPr>
            <a:lvl3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3pPr>
            <a:lvl4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4pPr>
            <a:lvl5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5pPr>
            <a:lvl6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6pPr>
            <a:lvl7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7pPr>
            <a:lvl8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8pPr>
            <a:lvl9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rPr>
              <a:t>helpdesk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9F4BDD-53DB-40D0-AE66-933BF44F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14500"/>
            <a:ext cx="714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defPPr>
            <a:lvl1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1pPr>
            <a:lvl2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2pPr>
            <a:lvl3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3pPr>
            <a:lvl4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4pPr>
            <a:lvl5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5pPr>
            <a:lvl6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6pPr>
            <a:lvl7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7pPr>
            <a:lvl8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8pPr>
            <a:lvl9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rPr>
              <a:t>Системный пользователь без входа. Читает секреты, работает с БД и журналами.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4A98DB-E30E-4ECD-812C-DE7D394D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95625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defPPr>
            <a:lvl1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1pPr>
            <a:lvl2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2pPr>
            <a:lvl3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3pPr>
            <a:lvl4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4pPr>
            <a:lvl5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5pPr>
            <a:lvl6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6pPr>
            <a:lvl7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7pPr>
            <a:lvl8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8pPr>
            <a:lvl9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rPr>
              <a:t>ivanov / petrova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6E980E-9408-4F52-AA35-5F5138EE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95625"/>
            <a:ext cx="714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defPPr>
            <a:lvl1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1pPr>
            <a:lvl2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2pPr>
            <a:lvl3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3pPr>
            <a:lvl4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4pPr>
            <a:lvl5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5pPr>
            <a:lvl6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6pPr>
            <a:lvl7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7pPr>
            <a:lvl8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8pPr>
            <a:lvl9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rPr>
              <a:t>Меняют static, читают журналы. Через sudo выполняют только start, stop и status.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DA469F-9FB5-4A3A-8749-4CEC9772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defPPr>
            <a:lvl1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1pPr>
            <a:lvl2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2pPr>
            <a:lvl3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3pPr>
            <a:lvl4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4pPr>
            <a:lvl5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5pPr>
            <a:lvl6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6pPr>
            <a:lvl7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7pPr>
            <a:lvl8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8pPr>
            <a:lvl9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rPr>
              <a:t>smirnova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D010FD-85AC-4D0F-A6F6-A7EA3DBB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76750"/>
            <a:ext cx="714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defPPr>
            <a:lvl1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1pPr>
            <a:lvl2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2pPr>
            <a:lvl3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3pPr>
            <a:lvl4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4pPr>
            <a:lvl5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5pPr>
            <a:lvl6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6pPr>
            <a:lvl7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7pPr>
            <a:lvl8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8pPr>
            <a:lvl9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rPr>
              <a:t>Читает журналы. Доступ к секретам и данным закрыт.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5AE959-3295-4F9B-8111-88576C22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626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defPPr>
            <a:lvl1pPr>
              <a:defRPr sz="19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1pPr>
            <a:lvl2pPr>
              <a:defRPr sz="19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2pPr>
            <a:lvl3pPr>
              <a:defRPr sz="19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3pPr>
            <a:lvl4pPr>
              <a:defRPr sz="19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4pPr>
            <a:lvl5pPr>
              <a:defRPr sz="19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5pPr>
            <a:lvl6pPr>
              <a:defRPr sz="19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6pPr>
            <a:lvl7pPr>
              <a:defRPr sz="19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7pPr>
            <a:lvl8pPr>
              <a:defRPr sz="19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8pPr>
            <a:lvl9pPr>
              <a:defRPr sz="19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9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rPr>
              <a:t>Setgid + default ACL для static. UMASK=0027 для службы.</a:t>
            </a:r>
          </a:p>
        </p:txBody>
      </p:sp>
    </p:spTree>
    <p:extLst>
      <p:ext uri="{BB962C8B-B14F-4D97-AF65-F5344CB8AC3E}">
        <p14:creationId xmlns:p14="http://schemas.microsoft.com/office/powerpoint/2010/main" val="9610358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80CB78-88CD-4D01-806A-043D4E69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defPPr>
            <a:lvl1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1pPr>
            <a:lvl2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2pPr>
            <a:lvl3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3pPr>
            <a:lvl4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4pPr>
            <a:lvl5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5pPr>
            <a:lvl6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6pPr>
            <a:lvl7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7pPr>
            <a:lvl8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8pPr>
            <a:lvl9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rPr>
              <a:t>Проблема: группа ещё не создана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13B98B-CC78-40CA-83E8-5B00D45C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defPPr>
            <a:lvl1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1pPr>
            <a:lvl2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2pPr>
            <a:lvl3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3pPr>
            <a:lvl4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4pPr>
            <a:lvl5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5pPr>
            <a:lvl6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6pPr>
            <a:lvl7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7pPr>
            <a:lvl8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8pPr>
            <a:lvl9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C6E94D-4215-4B39-8A6C-5E2BDA0B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FBD84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2250" b="0">
                <a:solidFill>
                  <a:srgbClr val="FFBD84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2250" b="0">
                <a:solidFill>
                  <a:srgbClr val="FFBD84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2250" b="0">
                <a:solidFill>
                  <a:srgbClr val="FFBD84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2250" b="0">
                <a:solidFill>
                  <a:srgbClr val="FFBD84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2250" b="0">
                <a:solidFill>
                  <a:srgbClr val="FFBD84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2250" b="0">
                <a:solidFill>
                  <a:srgbClr val="FFBD84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2250" b="0">
                <a:solidFill>
                  <a:srgbClr val="FFBD84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2250" b="0">
                <a:solidFill>
                  <a:srgbClr val="FFBD84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2250" b="0">
                <a:solidFill>
                  <a:srgbClr val="FFBD84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FBD8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250" b="0">
                <a:solidFill>
                  <a:srgbClr val="FFBD84"/>
                </a:solidFill>
                <a:latin typeface="DejaVu Sans Mono"/>
                <a:ea typeface="DejaVu Sans Mono"/>
                <a:cs typeface="DejaVu Sans Mono"/>
              </a:rPr>
              <a:t>install: неверная группа 'helpdesk-dev'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C983E6-B4F6-4F92-98BC-79F6E432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2892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defPPr>
            <a:lvl1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1pPr>
            <a:lvl2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2pPr>
            <a:lvl3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3pPr>
            <a:lvl4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4pPr>
            <a:lvl5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5pPr>
            <a:lvl6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6pPr>
            <a:lvl7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7pPr>
            <a:lvl8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8pPr>
            <a:lvl9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rPr>
              <a:t>Причина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4D50F-4271-46EA-ABBF-AF414CBA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28925"/>
            <a:ext cx="7810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defPPr>
            <a:lvl1pPr>
              <a:defRPr sz="2250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1pPr>
            <a:lvl2pPr>
              <a:defRPr sz="2250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2pPr>
            <a:lvl3pPr>
              <a:defRPr sz="2250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3pPr>
            <a:lvl4pPr>
              <a:defRPr sz="2250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4pPr>
            <a:lvl5pPr>
              <a:defRPr sz="2250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5pPr>
            <a:lvl6pPr>
              <a:defRPr sz="2250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6pPr>
            <a:lvl7pPr>
              <a:defRPr sz="2250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7pPr>
            <a:lvl8pPr>
              <a:defRPr sz="2250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8pPr>
            <a:lvl9pPr>
              <a:defRPr sz="2250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250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rPr>
              <a:t>Модуль размещения запустили раньше создания аккаунтов.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4DB005-2ED2-4910-A24C-73AB632D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defPPr>
            <a:lvl1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1pPr>
            <a:lvl2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2pPr>
            <a:lvl3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3pPr>
            <a:lvl4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4pPr>
            <a:lvl5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5pPr>
            <a:lvl6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6pPr>
            <a:lvl7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7pPr>
            <a:lvl8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8pPr>
            <a:lvl9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rPr>
              <a:t>Решение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CA8565-3A04-4D4E-ADAD-38D707AA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95750"/>
            <a:ext cx="781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defPPr>
            <a:lvl1pPr>
              <a:defRPr sz="2250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1pPr>
            <a:lvl2pPr>
              <a:defRPr sz="2250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2pPr>
            <a:lvl3pPr>
              <a:defRPr sz="2250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3pPr>
            <a:lvl4pPr>
              <a:defRPr sz="2250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4pPr>
            <a:lvl5pPr>
              <a:defRPr sz="2250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5pPr>
            <a:lvl6pPr>
              <a:defRPr sz="2250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6pPr>
            <a:lvl7pPr>
              <a:defRPr sz="2250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7pPr>
            <a:lvl8pPr>
              <a:defRPr sz="2250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8pPr>
            <a:lvl9pPr>
              <a:defRPr sz="2250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250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rPr>
              <a:t>Сначала 10-accounts.sh, затем 20-layout.sh и 30-access.sh. Проверяем группы через getent.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9016E4-4AC3-41D6-8201-A37D028D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6262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defPPr>
            <a:lvl1pPr>
              <a:defRPr sz="19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1pPr>
            <a:lvl2pPr>
              <a:defRPr sz="19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2pPr>
            <a:lvl3pPr>
              <a:defRPr sz="19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3pPr>
            <a:lvl4pPr>
              <a:defRPr sz="19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4pPr>
            <a:lvl5pPr>
              <a:defRPr sz="19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5pPr>
            <a:lvl6pPr>
              <a:defRPr sz="19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6pPr>
            <a:lvl7pPr>
              <a:defRPr sz="19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7pPr>
            <a:lvl8pPr>
              <a:defRPr sz="19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8pPr>
            <a:lvl9pPr>
              <a:defRPr sz="19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9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rPr>
              <a:t>Цепочка с &amp;&amp; останавливает выполнение при первой ошибке</a:t>
            </a:r>
          </a:p>
        </p:txBody>
      </p:sp>
    </p:spTree>
    <p:extLst>
      <p:ext uri="{BB962C8B-B14F-4D97-AF65-F5344CB8AC3E}">
        <p14:creationId xmlns:p14="http://schemas.microsoft.com/office/powerpoint/2010/main" val="12573616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794B3E-1974-4A53-8801-D5AA296E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defPPr>
            <a:lvl1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1pPr>
            <a:lvl2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2pPr>
            <a:lvl3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3pPr>
            <a:lvl4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4pPr>
            <a:lvl5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5pPr>
            <a:lvl6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6pPr>
            <a:lvl7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7pPr>
            <a:lvl8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8pPr>
            <a:lvl9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rPr>
              <a:t>Проблема: старая версия ещё работает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F919F8-A485-4489-BF05-8C62E26F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defPPr>
            <a:lvl1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1pPr>
            <a:lvl2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2pPr>
            <a:lvl3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3pPr>
            <a:lvl4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4pPr>
            <a:lvl5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5pPr>
            <a:lvl6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6pPr>
            <a:lvl7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7pPr>
            <a:lvl8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8pPr>
            <a:lvl9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rPr>
              <a:t>06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3B1675-85FF-40A5-9E50-27AF4D83F7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6bacaa8fb042a3"/>
          <a:stretch xmlns:a="http://schemas.openxmlformats.org/drawingml/2006/main"/>
        </p:blipFill>
        <p:spPr>
          <a:xfrm xmlns:a="http://schemas.openxmlformats.org/drawingml/2006/main">
            <a:off x="647700" y="1657833"/>
            <a:ext cx="10820400" cy="180878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370C35-A6F6-4722-A882-D6A0CA22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defPPr>
            <a:lvl1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1pPr>
            <a:lvl2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2pPr>
            <a:lvl3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3pPr>
            <a:lvl4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4pPr>
            <a:lvl5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5pPr>
            <a:lvl6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6pPr>
            <a:lvl7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7pPr>
            <a:lvl8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8pPr>
            <a:lvl9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rPr>
              <a:t>Причина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ECBFAB-E30E-4C29-83C1-AF7E5CB5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57625"/>
            <a:ext cx="781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defPPr>
            <a:lvl1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1pPr>
            <a:lvl2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2pPr>
            <a:lvl3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3pPr>
            <a:lvl4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4pPr>
            <a:lvl5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5pPr>
            <a:lvl6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6pPr>
            <a:lvl7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7pPr>
            <a:lvl8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8pPr>
            <a:lvl9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rPr>
              <a:t>Версия 2.4.1 обнаружила процесс 2.3 и отказалась запускаться.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0561B3-4175-4C84-8A46-3441E607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720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defPPr>
            <a:lvl1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1pPr>
            <a:lvl2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2pPr>
            <a:lvl3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3pPr>
            <a:lvl4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4pPr>
            <a:lvl5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5pPr>
            <a:lvl6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6pPr>
            <a:lvl7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7pPr>
            <a:lvl8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8pPr>
            <a:lvl9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rPr>
              <a:t>Решение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E5901B-D90F-4400-8F9E-23153A98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72050"/>
            <a:ext cx="781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defPPr>
            <a:lvl1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1pPr>
            <a:lvl2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2pPr>
            <a:lvl3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3pPr>
            <a:lvl4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4pPr>
            <a:lvl5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5pPr>
            <a:lvl6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6pPr>
            <a:lvl7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7pPr>
            <a:lvl8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8pPr>
            <a:lvl9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175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rPr>
              <a:t>Остановили 2.3, дождались завершения и запустили новую службу от helpdesk. Права не расширяли.</a:t>
            </a:r>
          </a:p>
        </p:txBody>
      </p:sp>
    </p:spTree>
    <p:extLst>
      <p:ext uri="{BB962C8B-B14F-4D97-AF65-F5344CB8AC3E}">
        <p14:creationId xmlns:p14="http://schemas.microsoft.com/office/powerpoint/2010/main" val="7856636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C6F45B-C0A5-4F5B-BA37-BF5606F4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defPPr>
            <a:lvl1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1pPr>
            <a:lvl2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2pPr>
            <a:lvl3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3pPr>
            <a:lvl4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4pPr>
            <a:lvl5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5pPr>
            <a:lvl6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6pPr>
            <a:lvl7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7pPr>
            <a:lvl8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8pPr>
            <a:lvl9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rPr>
              <a:t>Проблема: правило sudo не создалось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F1888D-3BAD-4B57-9FE1-71A92B85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defPPr>
            <a:lvl1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1pPr>
            <a:lvl2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2pPr>
            <a:lvl3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3pPr>
            <a:lvl4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4pPr>
            <a:lvl5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5pPr>
            <a:lvl6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6pPr>
            <a:lvl7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7pPr>
            <a:lvl8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8pPr>
            <a:lvl9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6C3FB3-E22C-48F7-BA7E-0DCE6BCA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10572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defPPr>
            <a:lvl1pPr>
              <a:defRPr sz="2250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1pPr>
            <a:lvl2pPr>
              <a:defRPr sz="2250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2pPr>
            <a:lvl3pPr>
              <a:defRPr sz="2250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3pPr>
            <a:lvl4pPr>
              <a:defRPr sz="2250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4pPr>
            <a:lvl5pPr>
              <a:defRPr sz="2250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5pPr>
            <a:lvl6pPr>
              <a:defRPr sz="2250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6pPr>
            <a:lvl7pPr>
              <a:defRPr sz="2250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7pPr>
            <a:lvl8pPr>
              <a:defRPr sz="2250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8pPr>
            <a:lvl9pPr>
              <a:defRPr sz="2250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250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rPr>
              <a:t>visudo передал аргумент -- перед именем файла.</a:t>
            </a:r>
          </a:p>
          <a:p xmlns:a="http://schemas.openxmlformats.org/drawingml/2006/main">
            <a:pPr>
              <a:defRPr sz="2250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250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rPr>
              <a:t>Редактор записал правило в файл с именем --.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322E38-467F-4AA4-A002-8EFBF25F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defPPr>
            <a:lvl1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1pPr>
            <a:lvl2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2pPr>
            <a:lvl3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3pPr>
            <a:lvl4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4pPr>
            <a:lvl5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5pPr>
            <a:lvl6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6pPr>
            <a:lvl7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7pPr>
            <a:lvl8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8pPr>
            <a:lvl9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rPr>
              <a:t>Исправление редактора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F36A44-403C-47C6-9782-7ECC38EB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1081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F2F5F7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2175" b="0">
                <a:solidFill>
                  <a:srgbClr val="F2F5F7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2175" b="0">
                <a:solidFill>
                  <a:srgbClr val="F2F5F7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2175" b="0">
                <a:solidFill>
                  <a:srgbClr val="F2F5F7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2175" b="0">
                <a:solidFill>
                  <a:srgbClr val="F2F5F7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2175" b="0">
                <a:solidFill>
                  <a:srgbClr val="F2F5F7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2175" b="0">
                <a:solidFill>
                  <a:srgbClr val="F2F5F7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2175" b="0">
                <a:solidFill>
                  <a:srgbClr val="F2F5F7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2175" b="0">
                <a:solidFill>
                  <a:srgbClr val="F2F5F7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2175" b="0">
                <a:solidFill>
                  <a:srgbClr val="F2F5F7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2F5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F2F5F7"/>
                </a:solidFill>
                <a:latin typeface="DejaVu Sans Mono"/>
                <a:ea typeface="DejaVu Sans Mono"/>
                <a:cs typeface="DejaVu Sans Mono"/>
              </a:rPr>
              <a:t>if [ "${1:-}" = -- ]; then shift; fi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AE0EB3-DB0F-4E6B-8972-08B13A8E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defPPr>
            <a:lvl1pPr>
              <a:defRPr sz="2175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1pPr>
            <a:lvl2pPr>
              <a:defRPr sz="2175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2pPr>
            <a:lvl3pPr>
              <a:defRPr sz="2175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3pPr>
            <a:lvl4pPr>
              <a:defRPr sz="2175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4pPr>
            <a:lvl5pPr>
              <a:defRPr sz="2175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5pPr>
            <a:lvl6pPr>
              <a:defRPr sz="2175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6pPr>
            <a:lvl7pPr>
              <a:defRPr sz="2175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7pPr>
            <a:lvl8pPr>
              <a:defRPr sz="2175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8pPr>
            <a:lvl9pPr>
              <a:defRPr sz="2175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175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rPr>
              <a:t>После исправления visudo -c подтвердил корректность правила.</a:t>
            </a:r>
          </a:p>
          <a:p xmlns:a="http://schemas.openxmlformats.org/drawingml/2006/main">
            <a:pPr>
              <a:defRPr sz="2175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175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rPr>
              <a:t>Иванов и Петрова получили status без запроса пароля.</a:t>
            </a:r>
          </a:p>
        </p:txBody>
      </p:sp>
    </p:spTree>
    <p:extLst>
      <p:ext uri="{BB962C8B-B14F-4D97-AF65-F5344CB8AC3E}">
        <p14:creationId xmlns:p14="http://schemas.microsoft.com/office/powerpoint/2010/main" val="19268861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0A1DCF-3165-4C92-9CC7-DC6548BA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defPPr>
            <a:lvl1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1pPr>
            <a:lvl2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2pPr>
            <a:lvl3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3pPr>
            <a:lvl4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4pPr>
            <a:lvl5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5pPr>
            <a:lvl6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6pPr>
            <a:lvl7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7pPr>
            <a:lvl8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8pPr>
            <a:lvl9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rPr>
              <a:t>Повторяемая установка одним скриптом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FA637F-05AB-47C5-8160-C6F7B7BE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defPPr>
            <a:lvl1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1pPr>
            <a:lvl2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2pPr>
            <a:lvl3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3pPr>
            <a:lvl4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4pPr>
            <a:lvl5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5pPr>
            <a:lvl6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6pPr>
            <a:lvl7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7pPr>
            <a:lvl8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8pPr>
            <a:lvl9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7FB081-FE59-487E-85C5-E078B36C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1081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defPPr>
            <a:lvl1pPr>
              <a:defRPr sz="2250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1pPr>
            <a:lvl2pPr>
              <a:defRPr sz="2250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2pPr>
            <a:lvl3pPr>
              <a:defRPr sz="2250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3pPr>
            <a:lvl4pPr>
              <a:defRPr sz="2250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4pPr>
            <a:lvl5pPr>
              <a:defRPr sz="2250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5pPr>
            <a:lvl6pPr>
              <a:defRPr sz="2250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6pPr>
            <a:lvl7pPr>
              <a:defRPr sz="2250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7pPr>
            <a:lvl8pPr>
              <a:defRPr sz="2250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8pPr>
            <a:lvl9pPr>
              <a:defRPr sz="2250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250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rPr>
              <a:t>provision.sh выполняет модули в порядке 10, 20, 30, 40, 50.</a:t>
            </a:r>
          </a:p>
          <a:p xmlns:a="http://schemas.openxmlformats.org/drawingml/2006/main">
            <a:pPr>
              <a:defRPr sz="2250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250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rPr>
              <a:t>Проверяет службу и удаляет временную копию релиза.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50C5AF-4DE9-42D9-9B44-301F2401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956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defPPr>
            <a:lvl1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1pPr>
            <a:lvl2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2pPr>
            <a:lvl3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3pPr>
            <a:lvl4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4pPr>
            <a:lvl5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5pPr>
            <a:lvl6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6pPr>
            <a:lvl7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7pPr>
            <a:lvl8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8pPr>
            <a:lvl9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325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rPr>
              <a:t>Запуск из корня проекта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787902-2B63-4C1A-8565-BDF31ABA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108204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F2F5F7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defRPr sz="2175" b="0">
                <a:solidFill>
                  <a:srgbClr val="F2F5F7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defRPr sz="2175" b="0">
                <a:solidFill>
                  <a:srgbClr val="F2F5F7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defRPr sz="2175" b="0">
                <a:solidFill>
                  <a:srgbClr val="F2F5F7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defRPr sz="2175" b="0">
                <a:solidFill>
                  <a:srgbClr val="F2F5F7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defRPr sz="2175" b="0">
                <a:solidFill>
                  <a:srgbClr val="F2F5F7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defRPr sz="2175" b="0">
                <a:solidFill>
                  <a:srgbClr val="F2F5F7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defRPr sz="2175" b="0">
                <a:solidFill>
                  <a:srgbClr val="F2F5F7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defRPr sz="2175" b="0">
                <a:solidFill>
                  <a:srgbClr val="F2F5F7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defRPr sz="2175" b="0">
                <a:solidFill>
                  <a:srgbClr val="F2F5F7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2F5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F2F5F7"/>
                </a:solidFill>
                <a:latin typeface="DejaVu Sans Mono"/>
                <a:ea typeface="DejaVu Sans Mono"/>
                <a:cs typeface="DejaVu Sans Mono"/>
              </a:rPr>
              <a:t>sudo bash help/helpdesk-stand.sh</a:t>
            </a:r>
          </a:p>
          <a:p xmlns:a="http://schemas.openxmlformats.org/drawingml/2006/main">
            <a:pPr>
              <a:defRPr sz="2175" b="0">
                <a:solidFill>
                  <a:srgbClr val="F2F5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F2F5F7"/>
                </a:solidFill>
                <a:latin typeface="DejaVu Sans Mono"/>
                <a:ea typeface="DejaVu Sans Mono"/>
                <a:cs typeface="DejaVu Sans Mono"/>
              </a:rPr>
              <a:t>sudo bash provision.sh</a:t>
            </a:r>
          </a:p>
          <a:p xmlns:a="http://schemas.openxmlformats.org/drawingml/2006/main">
            <a:pPr>
              <a:defRPr sz="2175" b="0">
                <a:solidFill>
                  <a:srgbClr val="F2F5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F2F5F7"/>
                </a:solidFill>
                <a:latin typeface="DejaVu Sans Mono"/>
                <a:ea typeface="DejaVu Sans Mono"/>
                <a:cs typeface="DejaVu Sans Mono"/>
              </a:rPr>
              <a:t>sudo bash help/helpdesk-acceptance.sh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70BD34-C95E-42D1-8944-31057AF5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defPPr>
            <a:lvl1pPr>
              <a:defRPr sz="1875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1pPr>
            <a:lvl2pPr>
              <a:defRPr sz="1875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2pPr>
            <a:lvl3pPr>
              <a:defRPr sz="1875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3pPr>
            <a:lvl4pPr>
              <a:defRPr sz="1875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4pPr>
            <a:lvl5pPr>
              <a:defRPr sz="1875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5pPr>
            <a:lvl6pPr>
              <a:defRPr sz="1875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6pPr>
            <a:lvl7pPr>
              <a:defRPr sz="1875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7pPr>
            <a:lvl8pPr>
              <a:defRPr sz="1875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8pPr>
            <a:lvl9pPr>
              <a:defRPr sz="1875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875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rPr>
              <a:t>Стенд сбрасывает предыдущую установку helpdesk</a:t>
            </a:r>
          </a:p>
        </p:txBody>
      </p:sp>
    </p:spTree>
    <p:extLst>
      <p:ext uri="{BB962C8B-B14F-4D97-AF65-F5344CB8AC3E}">
        <p14:creationId xmlns:p14="http://schemas.microsoft.com/office/powerpoint/2010/main" val="17038132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49447B-69ED-46C3-92A8-F980B840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defPPr>
            <a:lvl1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1pPr>
            <a:lvl2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2pPr>
            <a:lvl3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3pPr>
            <a:lvl4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4pPr>
            <a:lvl5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5pPr>
            <a:lvl6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6pPr>
            <a:lvl7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7pPr>
            <a:lvl8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8pPr>
            <a:lvl9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3300" b="1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rPr>
              <a:t>Итог проверки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C58BAB-0732-43F6-B2DB-97CABF1C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defPPr>
            <a:lvl1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1pPr>
            <a:lvl2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2pPr>
            <a:lvl3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3pPr>
            <a:lvl4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4pPr>
            <a:lvl5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5pPr>
            <a:lvl6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6pPr>
            <a:lvl7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7pPr>
            <a:lvl8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8pPr>
            <a:lvl9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1350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6E4F29-F597-407E-BAE5-9D60BB06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4095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6600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defPPr>
            <a:lvl1pPr>
              <a:defRPr sz="6600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1pPr>
            <a:lvl2pPr>
              <a:defRPr sz="6600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2pPr>
            <a:lvl3pPr>
              <a:defRPr sz="6600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3pPr>
            <a:lvl4pPr>
              <a:defRPr sz="6600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4pPr>
            <a:lvl5pPr>
              <a:defRPr sz="6600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5pPr>
            <a:lvl6pPr>
              <a:defRPr sz="6600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6pPr>
            <a:lvl7pPr>
              <a:defRPr sz="6600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7pPr>
            <a:lvl8pPr>
              <a:defRPr sz="6600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8pPr>
            <a:lvl9pPr>
              <a:defRPr sz="6600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lvl9pPr>
          </a:lstStyle>
          <a:p xmlns:a="http://schemas.openxmlformats.org/drawingml/2006/main">
            <a:pPr>
              <a:defRPr sz="6600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6600" b="1">
                <a:solidFill>
                  <a:srgbClr val="5FE0BD"/>
                </a:solidFill>
                <a:latin typeface="Noto Sans Display"/>
                <a:ea typeface="Noto Sans Display"/>
                <a:cs typeface="Noto Sans Display"/>
              </a:rPr>
              <a:t>25 /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F3B5E5-C3C6-471D-A187-852EF0BA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4191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defPPr>
            <a:lvl1pPr>
              <a:defRPr sz="2400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1pPr>
            <a:lvl2pPr>
              <a:defRPr sz="2400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2pPr>
            <a:lvl3pPr>
              <a:defRPr sz="2400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3pPr>
            <a:lvl4pPr>
              <a:defRPr sz="2400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4pPr>
            <a:lvl5pPr>
              <a:defRPr sz="2400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5pPr>
            <a:lvl6pPr>
              <a:defRPr sz="2400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6pPr>
            <a:lvl7pPr>
              <a:defRPr sz="2400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7pPr>
            <a:lvl8pPr>
              <a:defRPr sz="2400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8pPr>
            <a:lvl9pPr>
              <a:defRPr sz="2400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400" b="0">
                <a:solidFill>
                  <a:srgbClr val="F2F5F7"/>
                </a:solidFill>
                <a:latin typeface="Noto Sans Display"/>
                <a:ea typeface="Noto Sans Display"/>
                <a:cs typeface="Noto Sans Display"/>
              </a:rPr>
              <a:t>Все пункты приёмки OK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B66B33-481C-4AB0-8BCB-EF8C8973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29125"/>
            <a:ext cx="4286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defPPr>
            <a:lvl1pPr>
              <a:defRPr sz="2025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1pPr>
            <a:lvl2pPr>
              <a:defRPr sz="2025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2pPr>
            <a:lvl3pPr>
              <a:defRPr sz="2025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3pPr>
            <a:lvl4pPr>
              <a:defRPr sz="2025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4pPr>
            <a:lvl5pPr>
              <a:defRPr sz="2025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5pPr>
            <a:lvl6pPr>
              <a:defRPr sz="2025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6pPr>
            <a:lvl7pPr>
              <a:defRPr sz="2025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7pPr>
            <a:lvl8pPr>
              <a:defRPr sz="2025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8pPr>
            <a:lvl9pPr>
              <a:defRPr sz="2025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025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rPr>
              <a:t>Служба работает от helpdesk.</a:t>
            </a:r>
          </a:p>
          <a:p xmlns:a="http://schemas.openxmlformats.org/drawingml/2006/main">
            <a:pPr>
              <a:defRPr sz="2025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025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rPr>
              <a:t>Права проверили по ролям.</a:t>
            </a:r>
          </a:p>
          <a:p xmlns:a="http://schemas.openxmlformats.org/drawingml/2006/main">
            <a:pPr>
              <a:defRPr sz="2025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025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rPr>
              <a:t>Результаты сохранили</a:t>
            </a:r>
          </a:p>
          <a:p xmlns:a="http://schemas.openxmlformats.org/drawingml/2006/main">
            <a:pPr>
              <a:defRPr sz="2025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defRPr>
            </a:pPr>
            <a:r>
              <a:rPr sz="2025" b="0">
                <a:solidFill>
                  <a:srgbClr val="B7C6D4"/>
                </a:solidFill>
                <a:latin typeface="Noto Sans Display"/>
                <a:ea typeface="Noto Sans Display"/>
                <a:cs typeface="Noto Sans Display"/>
              </a:rPr>
              <a:t>в документах проекта.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66F4CB-CF02-4C25-BBB1-4D645A1835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20f8d768af4f48"/>
          <a:stretch xmlns:a="http://schemas.openxmlformats.org/drawingml/2006/main"/>
        </p:blipFill>
        <p:spPr>
          <a:xfrm xmlns:a="http://schemas.openxmlformats.org/drawingml/2006/main">
            <a:off x="5314950" y="2064204"/>
            <a:ext cx="6238875" cy="330109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2833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2026-10-19T17:51:42.3440000Z</dcterms:created>
  <dcterms:modified xsi:type="dcterms:W3CDTF">2026-10-19T17:51:42.3440000Z</dcterms:modified>
</coreProperties>
</file>